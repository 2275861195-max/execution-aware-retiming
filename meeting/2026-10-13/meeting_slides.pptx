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067959a59f49f7" /><Relationship Type="http://schemas.openxmlformats.org/officeDocument/2006/relationships/extended-properties" Target="/docProps/app.xml" Id="R9c2b57a332ee4e23" /><Relationship Type="http://schemas.openxmlformats.org/officeDocument/2006/relationships/officeDocument" Target="/ppt/presentation.xml" Id="Rb26dfde8eab448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7021f0cf844d0b"/>
  </p:sldMasterIdLst>
  <p:notesMasterIdLst>
    <p:notesMasterId xmlns:r="http://schemas.openxmlformats.org/officeDocument/2006/relationships" r:id="R09ce9d0fab89425a"/>
  </p:notesMasterIdLst>
  <p:sldIdLst>
    <p:sldId xmlns:r="http://schemas.openxmlformats.org/officeDocument/2006/relationships" id="256" r:id="R745ba21431774c4e"/>
    <p:sldId xmlns:r="http://schemas.openxmlformats.org/officeDocument/2006/relationships" id="257" r:id="R18afad8f244c4a94"/>
    <p:sldId xmlns:r="http://schemas.openxmlformats.org/officeDocument/2006/relationships" id="258" r:id="Rfed414ada7314632"/>
    <p:sldId xmlns:r="http://schemas.openxmlformats.org/officeDocument/2006/relationships" id="259" r:id="R353197503aef478a"/>
    <p:sldId xmlns:r="http://schemas.openxmlformats.org/officeDocument/2006/relationships" id="260" r:id="R1ce0db0778a244a4"/>
    <p:sldId xmlns:r="http://schemas.openxmlformats.org/officeDocument/2006/relationships" id="261" r:id="Rbb0849272dfe41dd"/>
    <p:sldId xmlns:r="http://schemas.openxmlformats.org/officeDocument/2006/relationships" id="262" r:id="R1a6c132627784c50"/>
    <p:sldId xmlns:r="http://schemas.openxmlformats.org/officeDocument/2006/relationships" id="263" r:id="Rbf04c7158bcf454e"/>
    <p:sldId xmlns:r="http://schemas.openxmlformats.org/officeDocument/2006/relationships" id="264" r:id="R8fa7d484ebd845b2"/>
    <p:sldId xmlns:r="http://schemas.openxmlformats.org/officeDocument/2006/relationships" id="265" r:id="R17d772623d9c4c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f297d919cc42dc" /><Relationship Type="http://schemas.openxmlformats.org/officeDocument/2006/relationships/slideMaster" Target="/ppt/slideMasters/slideMaster1.xml" Id="R297021f0cf844d0b" /><Relationship Type="http://schemas.openxmlformats.org/officeDocument/2006/relationships/notesMaster" Target="/ppt/notesMasters/notesMaster1.xml" Id="R09ce9d0fab89425a" /><Relationship Type="http://schemas.openxmlformats.org/officeDocument/2006/relationships/presProps" Target="/ppt/presProps.xml" Id="R796a227377734719" /><Relationship Type="http://schemas.openxmlformats.org/officeDocument/2006/relationships/tableStyles" Target="/ppt/tableStyles.xml" Id="R88333c61d125433f" /><Relationship Type="http://schemas.openxmlformats.org/officeDocument/2006/relationships/slide" Target="/ppt/slides/slide1.xml" Id="R745ba21431774c4e" /><Relationship Type="http://schemas.openxmlformats.org/officeDocument/2006/relationships/slide" Target="/ppt/slides/slide2.xml" Id="R18afad8f244c4a94" /><Relationship Type="http://schemas.openxmlformats.org/officeDocument/2006/relationships/slide" Target="/ppt/slides/slide3.xml" Id="Rfed414ada7314632" /><Relationship Type="http://schemas.openxmlformats.org/officeDocument/2006/relationships/slide" Target="/ppt/slides/slide4.xml" Id="R353197503aef478a" /><Relationship Type="http://schemas.openxmlformats.org/officeDocument/2006/relationships/slide" Target="/ppt/slides/slide5.xml" Id="R1ce0db0778a244a4" /><Relationship Type="http://schemas.openxmlformats.org/officeDocument/2006/relationships/slide" Target="/ppt/slides/slide6.xml" Id="Rbb0849272dfe41dd" /><Relationship Type="http://schemas.openxmlformats.org/officeDocument/2006/relationships/slide" Target="/ppt/slides/slide7.xml" Id="R1a6c132627784c50" /><Relationship Type="http://schemas.openxmlformats.org/officeDocument/2006/relationships/slide" Target="/ppt/slides/slide8.xml" Id="Rbf04c7158bcf454e" /><Relationship Type="http://schemas.openxmlformats.org/officeDocument/2006/relationships/slide" Target="/ppt/slides/slide9.xml" Id="R8fa7d484ebd845b2" /><Relationship Type="http://schemas.openxmlformats.org/officeDocument/2006/relationships/slide" Target="/ppt/slides/slide10.xml" Id="R17d772623d9c4c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25dbc93d8247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f41435056d4e6e" /><Relationship Type="http://schemas.openxmlformats.org/officeDocument/2006/relationships/notesMaster" Target="/ppt/notesMasters/notesMaster1.xml" Id="R4c7f23600d1e46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9a6ac34e0a4502" /><Relationship Type="http://schemas.openxmlformats.org/officeDocument/2006/relationships/notesMaster" Target="/ppt/notesMasters/notesMaster1.xml" Id="R9ee290b9764840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88fb0f9bef4f55" /><Relationship Type="http://schemas.openxmlformats.org/officeDocument/2006/relationships/notesMaster" Target="/ppt/notesMasters/notesMaster1.xml" Id="R657b7eb9b92948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e26c6c580a42c0" /><Relationship Type="http://schemas.openxmlformats.org/officeDocument/2006/relationships/notesMaster" Target="/ppt/notesMasters/notesMaster1.xml" Id="R1c10178b5ef047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16cc1532e1411e" /><Relationship Type="http://schemas.openxmlformats.org/officeDocument/2006/relationships/notesMaster" Target="/ppt/notesMasters/notesMaster1.xml" Id="R1ec3399ab1c342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6c4db457f14361" /><Relationship Type="http://schemas.openxmlformats.org/officeDocument/2006/relationships/notesMaster" Target="/ppt/notesMasters/notesMaster1.xml" Id="R01dd4f83dcc54c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14ed01606a4669" /><Relationship Type="http://schemas.openxmlformats.org/officeDocument/2006/relationships/notesMaster" Target="/ppt/notesMasters/notesMaster1.xml" Id="Ree5add77786140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c67fa489484710" /><Relationship Type="http://schemas.openxmlformats.org/officeDocument/2006/relationships/notesMaster" Target="/ppt/notesMasters/notesMaster1.xml" Id="R176b20296dd94c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1de8296f6e434a" /><Relationship Type="http://schemas.openxmlformats.org/officeDocument/2006/relationships/notesMaster" Target="/ppt/notesMasters/notesMaster1.xml" Id="R40dd3ed75ff440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be778dc60a4a3f" /><Relationship Type="http://schemas.openxmlformats.org/officeDocument/2006/relationships/notesMaster" Target="/ppt/notesMasters/notesMaster1.xml" Id="Rdb1c8d32551040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author-supplied research meeting brief, 12 October 2026. Aggregate observations and exploratory associations are separate evidence tiers.</a:t>
            </a:r>
          </a:p>
          <a:p xmlns:a="http://schemas.openxmlformats.org/drawingml/2006/main">
            <a:r>
              <a:t>Tentative project title. This meeting concerns mechanism identification, not a completed method. We seek feedback and collaborators.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author-supplied research meeting brief, 12 October 2026. Aggregate observations and exploratory associations are separate evidence tiers.</a:t>
            </a:r>
          </a:p>
          <a:p xmlns:a="http://schemas.openxmlformats.org/drawingml/2006/main">
            <a:r>
              <a:t>The policy is frozen. Temporal acceleration is an execution intervention. The accelerator itself is not necessarily our contribution. Reliability and measured speedup must both improve.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author-supplied research meeting brief, 12 October 2026. Aggregate observations and exploratory associations are separate evidence tiers.</a:t>
            </a:r>
          </a:p>
          <a:p xmlns:a="http://schemas.openxmlformats.org/drawingml/2006/main">
            <a:r>
              <a:t>The existing experiments use frozen π0.5 and a 10-action chunk. Runtime retiming acts on execution. Policy independence and ACT/DP generalization remain future tests. Query cadence changes with acceleration in the current protocols.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author-supplied research meeting brief, 12 October 2026. Aggregate observations and exploratory associations are separate evidence tiers.</a:t>
            </a:r>
          </a:p>
          <a:p xmlns:a="http://schemas.openxmlformats.org/drawingml/2006/main">
            <a:r>
              <a:t>Verified supplied overall table: RT1 SR97.90,time7.43,speedup1.00,calls15.29; RT1.5 95.45,5.76,1.33,19.61; RT2 80.50,5.57,1.47,22.71; RT2.5 60.70,5.73,1.54,29.04; RT3 48.85,5.55,1.53,37.34. Completion-time and call means condition on success. Exact paired denominator needs documentation. No confidence intervals have been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author-supplied research meeting brief, 12 October 2026. Aggregate observations and exploratory associations are separate evidence tiers.</a:t>
            </a:r>
          </a:p>
          <a:p xmlns:a="http://schemas.openxmlformats.org/drawingml/2006/main">
            <a:r>
              <a:t>The 100-episode audit contains an RT3 subset with 31 failures and 19 successes. These are medians over first100 control steps,5seconds. Three proxies have different units and should not be interpreted on a common scale. Bound excess is requested action excess, not verified physical saturation. Task4 direction reverses:failure.1793,success.2386. Task8 efficiency reverses:failure.8551,success.8329. No causal order or universal signal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author-supplied research meeting brief, 12 October 2026. Aggregate observations and exploratory associations are separate evidence tiers.</a:t>
            </a:r>
          </a:p>
          <a:p xmlns:a="http://schemas.openxmlformats.org/drawingml/2006/main">
            <a:r>
              <a:t>These are competing hypotheses, not a ranked explanation. They may coexist. Object/contact/task-predicate signals are missing from the old diagnostic traces, preventing current adjudication.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author-supplied research meeting brief, 12 October 2026. Aggregate observations and exploratory associations are separate evidence tiers.</a:t>
            </a:r>
          </a:p>
          <a:p xmlns:a="http://schemas.openxmlformats.org/drawingml/2006/main">
            <a:r>
              <a:t>RT1 executes 10 raw actions before querying. RT3 executes 3 compressed actions before querying. Therefore both source-time compression and cadence/prefix execution differ. Existing RT1 versus RT3 comparisons cannot identify either factor independently.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author-supplied research meeting brief, 12 October 2026. Aggregate observations and exploratory associations are separate evidence tiers.</a:t>
            </a:r>
          </a:p>
          <a:p xmlns:a="http://schemas.openxmlformats.org/drawingml/2006/main">
            <a:r>
              <a:t>Proposed design, not completed results. Task4 is falsification oriented because the direction proxy has a task-level counterexample. 20 fixed outcome-independent init states. Brief proposes 6 smoke then60 diagnostic episodes with possible repeats. Latest collection plan may use100 including Q3 repeats. S1Q10 toS1Q3 tests cadence plus chunk-prefix execution and feedback opportunity changes. S1Q3 toS3Q3 matches cadence but changes temporal compression and source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author-supplied research meeting brief, 12 October 2026. Aggregate observations and exploratory associations are separate evidence tiers.</a:t>
            </a:r>
          </a:p>
          <a:p xmlns:a="http://schemas.openxmlformats.org/drawingml/2006/main">
            <a:r>
              <a:t>Required new logging:task,init,repeat,seed,step,simtime,query/localindex;raw/retimedchunk,sourcemapping,actionsent;actualscaleddelta/controllergoalsifaccessible;EEF/robot/gripperpositionsandvelocities;allmovableobjectpose/velocity;finger/robot/support/receptaclecontacts;predicates/reward/done/finalsuccess. Agentview andwrist video map explicitly to steps. Privileged state diagnoses mechanisms but does not define deployable plugin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author-supplied research meeting brief, 12 October 2026. Aggregate observations and exploratory associations are separate evidence tiers.</a:t>
            </a:r>
          </a:p>
          <a:p xmlns:a="http://schemas.openxmlformats.org/drawingml/2006/main">
            <a:r>
              <a:t>Architecture is conceptual and not implemented. Monitor and corrector depend on the identified mechanism. Possible corrections include feasibility/residual handling,commitment filtering,completion-awareexecution,or conservative recovery. No effect demonstrated. Questions:is the problem focused;does S1Q3 control adequately separate cadence;what deployable signal should be targeted?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fd55f9a6946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ff7f659e64a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9e3b488294f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ef08f640246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26c1c81cc40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3deda33bad4e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864787-5CA7-4D10-B712-B7D382CDFE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ED5848-667F-4517-ABD1-C9126702C5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2C86948-BE3F-4828-AA4B-0E97725E33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1019D8-803B-446E-A410-986AF5769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35C188F-27C2-49AA-ACCC-58FC8401AF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CB7A91-9FB8-45A3-9CDC-43158C6318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73A4A8-E44F-40BF-8381-0BCD13C1A7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7EBC9F-7F81-4F0F-8F20-3750A65019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CF6AD2-9D3D-4AEA-B70C-C1F5B0C3E1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FE93EA-C8A2-488C-8EB2-B84102FF2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491a505a214de2" /><Relationship Type="http://schemas.openxmlformats.org/officeDocument/2006/relationships/slideLayout" Target="/ppt/slideLayouts/slideLayout1.xml" Id="R04a3004134814efd" /><Relationship Type="http://schemas.openxmlformats.org/officeDocument/2006/relationships/slideLayout" Target="/ppt/slideLayouts/slideLayout2.xml" Id="R7d5d244d24714598" /><Relationship Type="http://schemas.openxmlformats.org/officeDocument/2006/relationships/slideLayout" Target="/ppt/slideLayouts/slideLayout3.xml" Id="Rdfb938b3c38844b2" /><Relationship Type="http://schemas.openxmlformats.org/officeDocument/2006/relationships/slideLayout" Target="/ppt/slideLayouts/slideLayout4.xml" Id="R9688f98a47ed4781" /><Relationship Type="http://schemas.openxmlformats.org/officeDocument/2006/relationships/slideLayout" Target="/ppt/slideLayouts/slideLayout5.xml" Id="R30d77da13a8c44c4" /><Relationship Type="http://schemas.openxmlformats.org/officeDocument/2006/relationships/slideLayout" Target="/ppt/slideLayouts/slideLayout6.xml" Id="R33b8fde9ecb241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a3004134814efd"/>
    <p:sldLayoutId xmlns:r="http://schemas.openxmlformats.org/officeDocument/2006/relationships" id="2147483650" r:id="R7d5d244d24714598"/>
    <p:sldLayoutId xmlns:r="http://schemas.openxmlformats.org/officeDocument/2006/relationships" id="2147483651" r:id="Rdfb938b3c38844b2"/>
    <p:sldLayoutId xmlns:r="http://schemas.openxmlformats.org/officeDocument/2006/relationships" id="2147483652" r:id="R9688f98a47ed4781"/>
    <p:sldLayoutId xmlns:r="http://schemas.openxmlformats.org/officeDocument/2006/relationships" id="2147483653" r:id="R30d77da13a8c44c4"/>
    <p:sldLayoutId xmlns:r="http://schemas.openxmlformats.org/officeDocument/2006/relationships" id="2147483654" r:id="R33b8fde9ecb241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955c7cfa0a4e56" /><Relationship Type="http://schemas.openxmlformats.org/officeDocument/2006/relationships/notesSlide" Target="/ppt/notesSlides/notesSlide1.xml" Id="R25ba14b04cc54f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f87e87534c4b67" /><Relationship Type="http://schemas.openxmlformats.org/officeDocument/2006/relationships/notesSlide" Target="/ppt/notesSlides/notesSlide2.xml" Id="R5a0817d0089d4a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8adf1d42194dc6" /><Relationship Type="http://schemas.openxmlformats.org/officeDocument/2006/relationships/notesSlide" Target="/ppt/notesSlides/notesSlide3.xml" Id="Rb7624628020e4b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07bc8ed89348a8" /><Relationship Type="http://schemas.openxmlformats.org/officeDocument/2006/relationships/chart" Target="/ppt/slides/charts/chart1.xml" Id="R523d576459e7421f" /><Relationship Type="http://schemas.openxmlformats.org/officeDocument/2006/relationships/notesSlide" Target="/ppt/notesSlides/notesSlide4.xml" Id="Rfe9f7b873bb747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d840ff130545c2" /><Relationship Type="http://schemas.openxmlformats.org/officeDocument/2006/relationships/notesSlide" Target="/ppt/notesSlides/notesSlide5.xml" Id="R740caa29edcb42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176541a1448dd" /><Relationship Type="http://schemas.openxmlformats.org/officeDocument/2006/relationships/notesSlide" Target="/ppt/notesSlides/notesSlide6.xml" Id="R952280ac587c4c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6ad0e3abe41fb" /><Relationship Type="http://schemas.openxmlformats.org/officeDocument/2006/relationships/notesSlide" Target="/ppt/notesSlides/notesSlide7.xml" Id="Rf991b080810449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ed880284940e8" /><Relationship Type="http://schemas.openxmlformats.org/officeDocument/2006/relationships/notesSlide" Target="/ppt/notesSlides/notesSlide8.xml" Id="R9dd8ff094f4349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a07fde7e404923" /><Relationship Type="http://schemas.openxmlformats.org/officeDocument/2006/relationships/notesSlide" Target="/ppt/notesSlides/notesSlide9.xml" Id="R0700d335719f4e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f55ff375a408f" /><Relationship Type="http://schemas.openxmlformats.org/officeDocument/2006/relationships/notesSlide" Target="/ppt/notesSlides/notesSlide10.xml" Id="R425997ff14fb43f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Success rate (%)</c:v>
          </c:tx>
          <c:spPr>
            <a:ln xmlns:a="http://schemas.openxmlformats.org/drawingml/2006/main" w="28575">
              <a:solidFill>
                <a:srgbClr val="136F73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136F73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1.0×</c:v>
                </c:pt>
                <c:pt idx="1">
                  <c:v>1.5×</c:v>
                </c:pt>
                <c:pt idx="2">
                  <c:v>2.0×</c:v>
                </c:pt>
                <c:pt idx="3">
                  <c:v>2.5×</c:v>
                </c:pt>
                <c:pt idx="4">
                  <c:v>3.0×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97.9</c:v>
                </c:pt>
                <c:pt idx="1">
                  <c:v>95.45</c:v>
                </c:pt>
                <c:pt idx="2">
                  <c:v>80.5</c:v>
                </c:pt>
                <c:pt idx="3">
                  <c:v>60.7</c:v>
                </c:pt>
                <c:pt idx="4">
                  <c:v>48.85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Arial"/>
                    <a:ea typeface="Arial"/>
                    <a:cs typeface="Arial"/>
                  </a:rPr>
                  <a:t>Requested acceleration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Arial"/>
                    <a:ea typeface="Arial"/>
                    <a:cs typeface="Arial"/>
                  </a:rPr>
                  <a:t>Success rate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CB0E3-B30D-4D11-B66E-2D73D669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Towards Stable Temporal Acceleration</a:t>
            </a:r>
          </a:p>
          <a:p xmlns:a="http://schemas.openxmlformats.org/drawingml/2006/main">
            <a: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of Frozen Action-Chunk Policies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85D08-506D-4B27-BF7D-A9D965C8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Current empirical evidence and mechanism-identification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FDAAB-A305-4B78-9A29-C218BDB7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6F73"/>
                </a:solidFill>
                <a:latin typeface="Arial"/>
                <a:ea typeface="Arial"/>
                <a:cs typeface="Arial"/>
              </a:rPr>
              <a:t>Research discussion · 13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61F3C-0D2B-49B5-89FA-580B03D9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4C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94C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4C3D"/>
                </a:solidFill>
                <a:latin typeface="Arial"/>
                <a:ea typeface="Arial"/>
                <a:cs typeface="Arial"/>
              </a:rPr>
              <a:t>Stability plug-in: a research target, not a validated method</a:t>
            </a:r>
          </a:p>
        </p:txBody>
      </p:sp>
    </p:spTree>
    <p:extLst>
      <p:ext uri="{BB962C8B-B14F-4D97-AF65-F5344CB8AC3E}">
        <p14:creationId xmlns:p14="http://schemas.microsoft.com/office/powerpoint/2010/main" val="1836310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DFB9F-B0A4-4EBB-B6F0-A5E370FF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Deployment-time acceleration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82A89-FCDD-4C35-A064-9E440B96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Can frozen policies execute faster</a:t>
            </a:r>
          </a:p>
          <a:p xmlns:a="http://schemas.openxmlformats.org/drawingml/2006/main">
            <a:pPr>
              <a:defRPr sz="337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without losing reliability?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8ED11-AE4D-477C-A689-26A3B441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6F73"/>
                </a:solidFill>
                <a:latin typeface="Arial"/>
                <a:ea typeface="Arial"/>
                <a:cs typeface="Arial"/>
              </a:rPr>
              <a:t>Existing accelerator</a:t>
            </a:r>
          </a:p>
          <a:p xmlns:a="http://schemas.openxmlformats.org/drawingml/2006/main">
            <a:pPr>
              <a:defRPr sz="2250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6F73"/>
                </a:solidFill>
                <a:latin typeface="Arial"/>
                <a:ea typeface="Arial"/>
                <a:cs typeface="Arial"/>
              </a:rPr>
              <a:t>Shortens execution of a predicted action chunk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25379-3CDE-4AE8-8950-03814EE9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6F73"/>
                </a:solidFill>
                <a:latin typeface="Arial"/>
                <a:ea typeface="Arial"/>
                <a:cs typeface="Arial"/>
              </a:rPr>
              <a:t>Research target</a:t>
            </a:r>
          </a:p>
          <a:p xmlns:a="http://schemas.openxmlformats.org/drawingml/2006/main">
            <a:pPr>
              <a:defRPr sz="2250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6F73"/>
                </a:solidFill>
                <a:latin typeface="Arial"/>
                <a:ea typeface="Arial"/>
                <a:cs typeface="Arial"/>
              </a:rPr>
              <a:t>Minimal execution correction after acceleration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C2D29-9810-4388-B764-E6771F0F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Evaluation requires actual speed gain, success rate, and execution traces.</a:t>
            </a:r>
          </a:p>
        </p:txBody>
      </p:sp>
    </p:spTree>
    <p:extLst>
      <p:ext uri="{BB962C8B-B14F-4D97-AF65-F5344CB8AC3E}">
        <p14:creationId xmlns:p14="http://schemas.microsoft.com/office/powerpoint/2010/main" val="1910711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C36AA-2C39-490C-88E3-B7F76335CF3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334500" y="2952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5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5688B-649B-47AF-B505-B2BCF921050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067550" y="2952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5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3BDA7-617D-480D-97BE-964CF383C82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800600" y="2952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5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52C8F-B015-420A-B194-F655144F1792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533650" y="2952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5"/>
            </a:solidFill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3C033-4A28-4AE5-A936-F0FCE307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Current execution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B69A3-8D36-4A7C-9EB0-30E971FC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24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6F73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9B4E5-2A82-4616-B5DD-6352875B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924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6F73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Frozen π0.5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D113B-3766-4633-A744-32897722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924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6F73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10-action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chunk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E3D9B-07A2-4878-9780-3509D5AF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1924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6F73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Runtime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retime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96B56-C39D-4517-9E95-00025851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81250"/>
            <a:ext cx="1924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6F73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FEE8F-B14B-4BBA-AD63-51C97723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6F73"/>
                </a:solidFill>
                <a:latin typeface="Arial"/>
                <a:ea typeface="Arial"/>
                <a:cs typeface="Arial"/>
              </a:rPr>
              <a:t>No policy fine-tuning in this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1CBD6-A12B-4333-9F44-7247F84B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94C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B94C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94C3D"/>
                </a:solidFill>
                <a:latin typeface="Arial"/>
                <a:ea typeface="Arial"/>
                <a:cs typeface="Arial"/>
              </a:rPr>
              <a:t>Current protocols also change when the policy is queried.</a:t>
            </a:r>
          </a:p>
        </p:txBody>
      </p:sp>
    </p:spTree>
    <p:extLst>
      <p:ext uri="{BB962C8B-B14F-4D97-AF65-F5344CB8AC3E}">
        <p14:creationId xmlns:p14="http://schemas.microsoft.com/office/powerpoint/2010/main" val="1247255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9D8B8-2E38-4BBF-ACDE-9CCFE17C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Reliability falls while measured speed gain saturates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F176AE5D-DE80-481B-AB91-5B0A90750BCD}"/>
              </a:ext>
            </a:extLst>
          </p:cNvPr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676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3d576459e7421f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BBCC4-0079-4BF6-B876-23C0FA7A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429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6F73"/>
                </a:solidFill>
                <a:latin typeface="Arial"/>
                <a:ea typeface="Arial"/>
                <a:cs typeface="Arial"/>
              </a:rPr>
              <a:t>1.5× requested</a:t>
            </a:r>
          </a:p>
          <a:p xmlns:a="http://schemas.openxmlformats.org/drawingml/2006/main">
            <a:pPr>
              <a:defRPr sz="2250" b="1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6F73"/>
                </a:solidFill>
                <a:latin typeface="Arial"/>
                <a:ea typeface="Arial"/>
                <a:cs typeface="Arial"/>
              </a:rPr>
              <a:t>95.45% success</a:t>
            </a:r>
          </a:p>
          <a:p xmlns:a="http://schemas.openxmlformats.org/drawingml/2006/main">
            <a:pPr>
              <a:defRPr sz="2250" b="1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6F73"/>
                </a:solidFill>
                <a:latin typeface="Arial"/>
                <a:ea typeface="Arial"/>
                <a:cs typeface="Arial"/>
              </a:rPr>
              <a:t>1.33× paired speedup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51928-3F2B-4ED2-8618-DE35835D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3429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B94C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4C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94C3D"/>
                </a:solidFill>
                <a:latin typeface="Arial"/>
                <a:ea typeface="Arial"/>
                <a:cs typeface="Arial"/>
              </a:rPr>
              <a:t>3.0× requested</a:t>
            </a:r>
          </a:p>
          <a:p xmlns:a="http://schemas.openxmlformats.org/drawingml/2006/main">
            <a:pPr>
              <a:defRPr sz="2250" b="1">
                <a:solidFill>
                  <a:srgbClr val="B94C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94C3D"/>
                </a:solidFill>
                <a:latin typeface="Arial"/>
                <a:ea typeface="Arial"/>
                <a:cs typeface="Arial"/>
              </a:rPr>
              <a:t>48.85% success</a:t>
            </a:r>
          </a:p>
          <a:p xmlns:a="http://schemas.openxmlformats.org/drawingml/2006/main">
            <a:pPr>
              <a:defRPr sz="2250" b="1">
                <a:solidFill>
                  <a:srgbClr val="B94C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94C3D"/>
                </a:solidFill>
                <a:latin typeface="Arial"/>
                <a:ea typeface="Arial"/>
                <a:cs typeface="Arial"/>
              </a:rPr>
              <a:t>1.53× paired speedup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03D66-0600-4EA3-9081-1AC8E25E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Supplied aggregate results. Paired speedup is distinct from requested acceleration.</a:t>
            </a:r>
          </a:p>
          <a:p xmlns:a="http://schemas.openxmlformats.org/drawingml/2006/main">
            <a:pPr>
              <a:defRPr sz="15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Successful-episode metrics and paired eligibility require explicit denominators.</a:t>
            </a:r>
          </a:p>
        </p:txBody>
      </p:sp>
    </p:spTree>
    <p:extLst>
      <p:ext uri="{BB962C8B-B14F-4D97-AF65-F5344CB8AC3E}">
        <p14:creationId xmlns:p14="http://schemas.microsoft.com/office/powerpoint/2010/main" val="20120675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3682A-9997-48F6-A682-344C5F4E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Exploratory RT3 diagnostic associations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07896-167E-4A60-B6EC-B43D2D383322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381750"/>
                <a:gridCol w="2295525"/>
                <a:gridCol w="2295525"/>
              </a:tblGrid>
              <a:tr h="8334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D2935"/>
                          </a:solidFill>
                          <a:latin typeface="Arial"/>
                          <a:ea typeface="Arial"/>
                          <a:cs typeface="Arial"/>
                        </a:rPr>
                        <a:t>Median proxy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B94C3D"/>
                          </a:solidFill>
                          <a:latin typeface="Arial"/>
                          <a:ea typeface="Arial"/>
                          <a:cs typeface="Arial"/>
                        </a:rPr>
                        <a:t>Failure N=31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36F73"/>
                          </a:solidFill>
                          <a:latin typeface="Arial"/>
                          <a:ea typeface="Arial"/>
                          <a:cs typeface="Arial"/>
                        </a:rPr>
                        <a:t>Success N=19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D2935"/>
                          </a:solidFill>
                          <a:latin typeface="Arial"/>
                          <a:ea typeface="Arial"/>
                          <a:cs typeface="Arial"/>
                        </a:rPr>
                        <a:t>Direction-change proxy</a:t>
                      </a:r>
                    </a:p>
                  </a:txBody>
                  <a:tcPr marL="91440" marR="91440" marT="45720" marB="45720"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B94C3D"/>
                          </a:solidFill>
                          <a:latin typeface="Arial"/>
                          <a:ea typeface="Arial"/>
                          <a:cs typeface="Arial"/>
                        </a:rPr>
                        <a:t>0.1793</a:t>
                      </a:r>
                    </a:p>
                  </a:txBody>
                  <a:tcPr marL="91440" marR="91440" marT="45720" marB="45720"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6F73"/>
                          </a:solidFill>
                          <a:latin typeface="Arial"/>
                          <a:ea typeface="Arial"/>
                          <a:cs typeface="Arial"/>
                        </a:rPr>
                        <a:t>0.1061</a:t>
                      </a:r>
                    </a:p>
                  </a:txBody>
                  <a:tcPr marL="91440" marR="91440" marT="45720" marB="45720">
                    <a:solidFill>
                      <a:srgbClr val="FAFBFA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D2935"/>
                          </a:solidFill>
                          <a:latin typeface="Arial"/>
                          <a:ea typeface="Arial"/>
                          <a:cs typeface="Arial"/>
                        </a:rPr>
                        <a:t>Requested bound-excess fraction</a:t>
                      </a:r>
                    </a:p>
                  </a:txBody>
                  <a:tcPr marL="91440" marR="91440" marT="45720" marB="45720"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B94C3D"/>
                          </a:solidFill>
                          <a:latin typeface="Arial"/>
                          <a:ea typeface="Arial"/>
                          <a:cs typeface="Arial"/>
                        </a:rPr>
                        <a:t>0.64</a:t>
                      </a:r>
                    </a:p>
                  </a:txBody>
                  <a:tcPr marL="91440" marR="91440" marT="45720" marB="45720"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6F73"/>
                          </a:solidFill>
                          <a:latin typeface="Arial"/>
                          <a:ea typeface="Arial"/>
                          <a:cs typeface="Arial"/>
                        </a:rPr>
                        <a:t>0.63</a:t>
                      </a:r>
                    </a:p>
                  </a:txBody>
                  <a:tcPr marL="91440" marR="91440" marT="45720" marB="45720">
                    <a:solidFill>
                      <a:srgbClr val="FAFBFA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D2935"/>
                          </a:solidFill>
                          <a:latin typeface="Arial"/>
                          <a:ea typeface="Arial"/>
                          <a:cs typeface="Arial"/>
                        </a:rPr>
                        <a:t>EEF path efficiency</a:t>
                      </a:r>
                    </a:p>
                  </a:txBody>
                  <a:tcPr marL="91440" marR="91440" marT="45720" marB="45720"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B94C3D"/>
                          </a:solidFill>
                          <a:latin typeface="Arial"/>
                          <a:ea typeface="Arial"/>
                          <a:cs typeface="Arial"/>
                        </a:rPr>
                        <a:t>0.7469</a:t>
                      </a:r>
                    </a:p>
                  </a:txBody>
                  <a:tcPr marL="91440" marR="91440" marT="45720" marB="45720"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6F73"/>
                          </a:solidFill>
                          <a:latin typeface="Arial"/>
                          <a:ea typeface="Arial"/>
                          <a:cs typeface="Arial"/>
                        </a:rPr>
                        <a:t>0.8368</a:t>
                      </a:r>
                    </a:p>
                  </a:txBody>
                  <a:tcPr marL="91440" marR="91440" marT="45720" marB="45720">
                    <a:solidFill>
                      <a:srgbClr val="FAFBFA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C384C-CAF9-4CF1-906F-59C1821A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First 100 control steps = 5 seconds for each episode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F6FCA-E8E9-4E8E-9E0B-E5CAC360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B94C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94C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94C3D"/>
                </a:solidFill>
                <a:latin typeface="Arial"/>
                <a:ea typeface="Arial"/>
                <a:cs typeface="Arial"/>
              </a:rPr>
              <a:t>Association only. Task-level counterexamples exist.</a:t>
            </a:r>
          </a:p>
          <a:p xmlns:a="http://schemas.openxmlformats.org/drawingml/2006/main">
            <a:pPr>
              <a:defRPr sz="2025" b="1">
                <a:solidFill>
                  <a:srgbClr val="B94C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94C3D"/>
                </a:solidFill>
                <a:latin typeface="Arial"/>
                <a:ea typeface="Arial"/>
                <a:cs typeface="Arial"/>
              </a:rPr>
              <a:t>No validated universal instability signal.</a:t>
            </a:r>
          </a:p>
        </p:txBody>
      </p:sp>
    </p:spTree>
    <p:extLst>
      <p:ext uri="{BB962C8B-B14F-4D97-AF65-F5344CB8AC3E}">
        <p14:creationId xmlns:p14="http://schemas.microsoft.com/office/powerpoint/2010/main" val="1137137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FF1CB-9113-4615-80EC-A7331B8C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Four competing mechanism hypotheses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C319C-3237-4493-87E7-FB07F94D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6F73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BC91C-CC1A-4893-A140-E6C94109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24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Motion realization distortion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DCE03-0678-4DA1-BEAA-05127385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81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Requested motion differs from realized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4E826-C4C1-44F9-A711-DC133F51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6F73"/>
                </a:solidFill>
                <a:latin typeface="Arial"/>
                <a:ea typeface="Arial"/>
                <a:cs typeface="Arial"/>
              </a:rPr>
              <a:t>H2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ECC71-6721-49F4-93D5-545C0E6C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289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Cross-query commitment instability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E1AF6-495C-4024-A7BA-42C951AE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861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Replanning changes continuous or discrete intent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B71AB-1BE6-460C-914D-1C2D05DF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6F73"/>
                </a:solidFill>
                <a:latin typeface="Arial"/>
                <a:ea typeface="Arial"/>
                <a:cs typeface="Arial"/>
              </a:rPr>
              <a:t>H3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4F977-B9B5-4129-A644-E34D8881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33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Interaction completion mismatch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C364F-3EB9-4A07-A7F8-50EEE475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91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Actuation advances before grasp or placement settles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47DE9-10B1-4EDC-8E4E-9B8DDC31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6F73"/>
                </a:solidFill>
                <a:latin typeface="Arial"/>
                <a:ea typeface="Arial"/>
                <a:cs typeface="Arial"/>
              </a:rPr>
              <a:t>H4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5AF97-EDDC-4123-9145-C1F17FC5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387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Object-state deviation / failed recovery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6AD6B-B856-4937-91A2-75652346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95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Object perturbation leads to inconsistent 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E7344-AE8D-4285-BE6E-010126EA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4C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94C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4C3D"/>
                </a:solidFill>
                <a:latin typeface="Arial"/>
                <a:ea typeface="Arial"/>
                <a:cs typeface="Arial"/>
              </a:rPr>
              <a:t>No winner yet</a:t>
            </a:r>
          </a:p>
        </p:txBody>
      </p:sp>
    </p:spTree>
    <p:extLst>
      <p:ext uri="{BB962C8B-B14F-4D97-AF65-F5344CB8AC3E}">
        <p14:creationId xmlns:p14="http://schemas.microsoft.com/office/powerpoint/2010/main" val="1728085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2D421-C26F-44E8-BA5C-4F59E3C52A00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238750" y="290512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5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3677A-7889-4D80-93B0-86EC4FC3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Acceleration and query cadence are confounded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693B8-8F21-41EF-B65D-63B07D40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6F73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RT1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Speed 1×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Query every 10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09A81-7864-4AD9-A68B-77563090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4C3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RT3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Speed 3×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Query every 3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8913D-69E3-4459-B978-ECA28D92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815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B94C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B94C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94C3D"/>
                </a:solidFill>
                <a:latin typeface="Arial"/>
                <a:ea typeface="Arial"/>
                <a:cs typeface="Arial"/>
              </a:rPr>
              <a:t>Speed changes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D9841-CB0A-424C-95A6-AB9D4DBC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8150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B94C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B94C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94C3D"/>
                </a:solidFill>
                <a:latin typeface="Arial"/>
                <a:ea typeface="Arial"/>
                <a:cs typeface="Arial"/>
              </a:rPr>
              <a:t>Query cadence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2FD5A-CB1F-4AE8-9FAA-A73E6A19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The current comparison cannot separate these effects.</a:t>
            </a:r>
          </a:p>
        </p:txBody>
      </p:sp>
    </p:spTree>
    <p:extLst>
      <p:ext uri="{BB962C8B-B14F-4D97-AF65-F5344CB8AC3E}">
        <p14:creationId xmlns:p14="http://schemas.microsoft.com/office/powerpoint/2010/main" val="435401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4F4B5-A6F8-4C80-BBA3-E8A89248C499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262188" y="2952750"/>
            <a:ext cx="2405063" cy="154781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CB6BB"/>
            </a:solidFill>
            <a:prstDash val="dash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94ADD-7AEC-4981-A455-F14DD01030D3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7477125" y="2952750"/>
            <a:ext cx="2262188" cy="1547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5"/>
            </a:solidFill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C2D3D-9B92-49EE-A6D9-340FA5716628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667125" y="2357438"/>
            <a:ext cx="466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5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CBE1C-4F1F-416C-88AA-4FE989FE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Controlled protocol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C54A5-1D31-47CA-92D9-A32AB5C0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809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6F73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S1-Q10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Raw 10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EC1C8-D697-4752-81FD-60D95ED3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2809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6F73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S1-Q3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Raw a0, a1, a2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05147-81CC-4979-A9FA-D0085E6A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09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4C3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S3-Q3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3 compressed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FA5DD-27D8-461E-8F66-B0461FB8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5737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6F73"/>
                </a:solidFill>
                <a:latin typeface="Arial"/>
                <a:ea typeface="Arial"/>
                <a:cs typeface="Arial"/>
              </a:rPr>
              <a:t>Cadence / prefix-execution effects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E5F6C-E75E-4430-9701-878D3B37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10000"/>
            <a:ext cx="309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94C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94C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4C3D"/>
                </a:solidFill>
                <a:latin typeface="Arial"/>
                <a:ea typeface="Arial"/>
                <a:cs typeface="Arial"/>
              </a:rPr>
              <a:t>Compression at</a:t>
            </a:r>
          </a:p>
          <a:p xmlns:a="http://schemas.openxmlformats.org/drawingml/2006/main">
            <a:pPr>
              <a:defRPr sz="1950" b="0">
                <a:solidFill>
                  <a:srgbClr val="B94C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4C3D"/>
                </a:solidFill>
                <a:latin typeface="Arial"/>
                <a:ea typeface="Arial"/>
                <a:cs typeface="Arial"/>
              </a:rPr>
              <a:t>matched cadence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51E3B-5E6B-4026-94A5-2DA2C8CE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Task4: a counterexample test</a:t>
            </a:r>
          </a:p>
          <a:p xmlns:a="http://schemas.openxmlformats.org/drawingml/2006/main">
            <a:pPr>
              <a:defRPr sz="21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20 fixed, outcome-independent init states</a:t>
            </a:r>
          </a:p>
        </p:txBody>
      </p:sp>
    </p:spTree>
    <p:extLst>
      <p:ext uri="{BB962C8B-B14F-4D97-AF65-F5344CB8AC3E}">
        <p14:creationId xmlns:p14="http://schemas.microsoft.com/office/powerpoint/2010/main" val="1432833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C60E3-D374-4EEA-9B0B-D3A6A9F7DCF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334500" y="28098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5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E9AA1-466A-4E29-9B45-4B97D4611E5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067550" y="28098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5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514F8-7DDF-4E51-8EA0-0CA05F7450B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800600" y="28098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5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DDE36-6D59-4D4D-A182-56E69FA7E4EE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533650" y="28098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5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844DC-C340-4909-8CA2-BEADE282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Synchronized execution 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AB6A2-5066-4AAC-B7FB-E7F57134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24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6F73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Action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F1B49-D71D-4169-8CE0-B2B44AC1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90750"/>
            <a:ext cx="1924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6F73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Controller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physical goal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B3084-2366-448A-9FEF-A287F47F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1924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6F73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Robot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EEF / gripper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24868-F786-445D-AB5D-DDA71434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90750"/>
            <a:ext cx="1924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6F73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Object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pose / contact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FA3AE-B960-4511-8EBB-73B3BE92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1924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6F73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Predicate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task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F6B3E-D140-449C-A092-A8720905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6F73"/>
                </a:solidFill>
                <a:latin typeface="Arial"/>
                <a:ea typeface="Arial"/>
                <a:cs typeface="Arial"/>
              </a:rPr>
              <a:t>Shared identity: init, repeat, seed, query, control step, simulation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05913-38EA-4FE3-A612-52B0F234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2935"/>
                </a:solidFill>
                <a:latin typeface="Arial"/>
                <a:ea typeface="Arial"/>
                <a:cs typeface="Arial"/>
              </a:rPr>
              <a:t>Agentview + wrist video synchronized to control steps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05A21-2202-4F04-B4E2-BCE2B6AA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94C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94C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4C3D"/>
                </a:solidFill>
                <a:latin typeface="Arial"/>
                <a:ea typeface="Arial"/>
                <a:cs typeface="Arial"/>
              </a:rPr>
              <a:t>Simulator ground truth supports diagnosis. Deployment inputs remain open.</a:t>
            </a:r>
          </a:p>
        </p:txBody>
      </p:sp>
    </p:spTree>
    <p:extLst>
      <p:ext uri="{BB962C8B-B14F-4D97-AF65-F5344CB8AC3E}">
        <p14:creationId xmlns:p14="http://schemas.microsoft.com/office/powerpoint/2010/main" val="6940256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EA2FA-D42A-4561-8C82-EC052180914C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3" idx="2"/>
          </p:cNvCxnSpPr>
          <p:nvPr/>
        </p:nvCxnSpPr>
        <p:spPr>
          <a:xfrm xmlns:a="http://schemas.openxmlformats.org/drawingml/2006/main" flipH="1">
            <a:off x="6572250" y="2571750"/>
            <a:ext cx="3929063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5"/>
            </a:solidFill>
            <a:prstDash val="dash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94452-76CF-4984-8021-D1650ED1506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8477250" y="2095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5"/>
            </a:solidFill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965A1-9774-4FCE-85FC-1353C03FF4D6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429000" y="20955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5"/>
            </a:solidFill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B2749-D4BE-4867-A06C-DFBD20A0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D2935"/>
                </a:solidFill>
                <a:latin typeface="Arial"/>
                <a:ea typeface="Arial"/>
                <a:cs typeface="Arial"/>
              </a:rPr>
              <a:t>Future stability plug-in and meeting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BA382-923D-4ED4-B698-AA87C1C7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6F73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Existing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accelerator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46B3F-13E0-41DE-98F0-A1F93334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4C3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Proposed stability plug-in</a:t>
            </a:r>
          </a:p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Monitor + Corrector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282DD-353C-43A9-9ADE-9C24272C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762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6F73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D2935"/>
                </a:solidFill>
                <a:latin typeface="Arial"/>
                <a:ea typeface="Arial"/>
                <a:cs typeface="Arial"/>
              </a:rPr>
              <a:t>Robot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9AEB3-D413-41BD-98AA-AA393C77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94C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94C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4C3D"/>
                </a:solidFill>
                <a:latin typeface="Arial"/>
                <a:ea typeface="Arial"/>
                <a:cs typeface="Arial"/>
              </a:rPr>
              <a:t>Mechanism-dependent and under investigation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B6AC8-CB6B-4A86-A15A-3D619016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2935"/>
                </a:solidFill>
                <a:latin typeface="Arial"/>
                <a:ea typeface="Arial"/>
                <a:cs typeface="Arial"/>
              </a:rPr>
              <a:t>1  Is execution instability a sufficiently focused research problem?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058D1-97CF-4490-B6E1-F56FC6B8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2935"/>
                </a:solidFill>
                <a:latin typeface="Arial"/>
                <a:ea typeface="Arial"/>
                <a:cs typeface="Arial"/>
              </a:rPr>
              <a:t>2  What remains confounded in the S1-Q3 control?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16DF4-94CC-4803-ABD9-9E0BCC6D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D29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D29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2935"/>
                </a:solidFill>
                <a:latin typeface="Arial"/>
                <a:ea typeface="Arial"/>
                <a:cs typeface="Arial"/>
              </a:rPr>
              <a:t>3  Which deployment signal can support minimal correction?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0320A-972D-4B89-BF85-B3D999DA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36F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6F73"/>
                </a:solidFill>
                <a:latin typeface="Arial"/>
                <a:ea typeface="Arial"/>
                <a:cs typeface="Arial"/>
              </a:rPr>
              <a:t>Seeking collaborators in execution diagnostics and controlled robot experiments</a:t>
            </a:r>
          </a:p>
        </p:txBody>
      </p:sp>
    </p:spTree>
    <p:extLst>
      <p:ext uri="{BB962C8B-B14F-4D97-AF65-F5344CB8AC3E}">
        <p14:creationId xmlns:p14="http://schemas.microsoft.com/office/powerpoint/2010/main" val="917630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2026-10-12T19:19:23.7000000Z</dcterms:created>
  <dcterms:modified xsi:type="dcterms:W3CDTF">2026-10-12T19:19:23.7000000Z</dcterms:modified>
</coreProperties>
</file>